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0272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0272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0272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518297"/>
            <a:ext cx="9144000" cy="50006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375297"/>
            <a:ext cx="9144000" cy="55364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544836"/>
            <a:ext cx="9144000" cy="55364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910828"/>
            <a:ext cx="9139555" cy="317500"/>
          </a:xfrm>
          <a:custGeom>
            <a:avLst/>
            <a:gdLst/>
            <a:ahLst/>
            <a:cxnLst/>
            <a:rect l="l" t="t" r="r" b="b"/>
            <a:pathLst>
              <a:path w="9139555" h="317500">
                <a:moveTo>
                  <a:pt x="9139549" y="317004"/>
                </a:moveTo>
                <a:lnTo>
                  <a:pt x="0" y="317004"/>
                </a:lnTo>
                <a:lnTo>
                  <a:pt x="0" y="0"/>
                </a:lnTo>
                <a:lnTo>
                  <a:pt x="9139549" y="0"/>
                </a:lnTo>
                <a:lnTo>
                  <a:pt x="9139549" y="317004"/>
                </a:lnTo>
                <a:close/>
              </a:path>
            </a:pathLst>
          </a:custGeom>
          <a:solidFill>
            <a:srgbClr val="5B13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0272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3525" y="878513"/>
            <a:ext cx="3651885" cy="238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0272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jeshwar-dev/shield-redrob-hackathon" TargetMode="Externa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4712" y="3050000"/>
            <a:ext cx="8374576" cy="200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20000"/>
              </a:lnSpc>
              <a:spcBef>
                <a:spcPts val="500"/>
              </a:spcBef>
            </a:pPr>
            <a:r>
              <a:rPr sz="1400" spc="0" dirty="0">
                <a:solidFill>
                  <a:srgbClr val="202729"/>
                </a:solidFill>
                <a:latin typeface="Arial Black"/>
                <a:cs typeface="Arial Black"/>
              </a:rPr>
              <a:t>Team Name : Shield</a:t>
            </a:r>
          </a:p>
          <a:p>
            <a:pPr marL="12700">
              <a:lnSpc>
                <a:spcPct val="120000"/>
              </a:lnSpc>
              <a:spcBef>
                <a:spcPts val="500"/>
              </a:spcBef>
            </a:pPr>
            <a:r>
              <a:rPr sz="1400" spc="0" dirty="0">
                <a:solidFill>
                  <a:srgbClr val="202729"/>
                </a:solidFill>
                <a:latin typeface="Arial Black"/>
                <a:cs typeface="Arial Black"/>
              </a:rPr>
              <a:t>Team Leader : Rajeshwar Chaturvedi</a:t>
            </a:r>
          </a:p>
          <a:p>
            <a:pPr marL="12700">
              <a:lnSpc>
                <a:spcPct val="120000"/>
              </a:lnSpc>
              <a:spcBef>
                <a:spcPts val="500"/>
              </a:spcBef>
            </a:pPr>
            <a:r>
              <a:rPr sz="1400" spc="0" dirty="0">
                <a:solidFill>
                  <a:srgbClr val="202729"/>
                </a:solidFill>
                <a:latin typeface="Arial Black"/>
                <a:cs typeface="Arial Black"/>
              </a:rPr>
              <a:t>Problem Statement : Intelligent AI-powered ranking of 100K+ candidates for Senior AI Engineer role using BM25, embeddings, and multi-signal scoring.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5000"/>
              </a:lnSpc>
              <a:spcBef>
                <a:spcPts val="100"/>
              </a:spcBef>
            </a:pPr>
            <a:r>
              <a:rPr spc="0" dirty="0"/>
              <a:t>Solution 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589" y="1240590"/>
            <a:ext cx="7013575" cy="64960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Shield is an AI-powered candidate ranking engine designed for 100K+ profiles.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Combines BM25 lexical retrieval, vector embeddings, and LTR-inspired heuristics.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Multi-signal scoring: skill match, experience, behavioral signals, and IR score.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Goes beyond keyword matching — semantic JD parsing separates required vs. preferred skills.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Every ranking is fully explainable — each score is traceable back to JD criteria.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5000"/>
              </a:lnSpc>
              <a:spcBef>
                <a:spcPts val="100"/>
              </a:spcBef>
            </a:pPr>
            <a:r>
              <a:rPr spc="0" dirty="0"/>
              <a:t>JD Understanding &amp; Candidate 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589" y="1240573"/>
            <a:ext cx="7590155" cy="96202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JD parser extracts required skills, preferred skills, experience range, and education.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LLM-based extraction separates hard requirements from nice-to-haves — not just token matching.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Candidate fit scored on: skill overlap %, experience delta, and profile completeness.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Behavioral signals considered: Open-to-Work flag, profile recency, GitHub activity.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Contextual weighting: missing required skills penalise heavily; preferred skills add a bonus.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5000"/>
              </a:lnSpc>
              <a:spcBef>
                <a:spcPts val="100"/>
              </a:spcBef>
            </a:pPr>
            <a:r>
              <a:rPr spc="0" dirty="0"/>
              <a:t>Ranking 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589" y="1240573"/>
            <a:ext cx="5716905" cy="96202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Step 1 — Retrieve: FAISS ANN search on candidate embeddings returns top-1K shortlist.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Step 2 — Re-rank: BM25Okapi lexical pass re-scores shortlist for keyword-critical signals.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Step 3 — Score: Weighted fusion — skill (30%), experience (25%), IR (20%), behavior (12%), quality (13%).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Step 4 — Rank: LTR-inspired heuristics + Reciprocal Rank Fusion produce final sorted list.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Signal weights are configurable per role type; output is deterministic and reproducible.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5000"/>
              </a:lnSpc>
              <a:spcBef>
                <a:spcPts val="100"/>
              </a:spcBef>
            </a:pPr>
            <a:r>
              <a:rPr spc="0" dirty="0"/>
              <a:t>Explainability &amp; Data Validation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589" y="1240573"/>
            <a:ext cx="6899275" cy="96202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Each candidate output includes a per-signal score breakdown: skill %, XP delta, IR rank.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Scores are grounded in structured profile fields only — no generative text in reasoning.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Rule-based fallback activates when field extraction confidence falls below threshold.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Profile completeness score penalises sparse or suspiciously thin profiles.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Date anomalies — future dates, overlapping roles, implausible durations — are flagged.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525" y="878513"/>
            <a:ext cx="6424295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Step 1 — JD Input: Recruiter provides raw job description text.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Step 2 — JD Parser: LLM extracts required skills, preferred skills, XP, and education.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Step 3 — Vector Search: FAISS retrieves top-1K candidates by embedding similarity.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Step 4 — BM25 Pass: Lexical re-ranking for keyword-critical role requirements.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Step 5 — Multi-Signal Scorer: Weighted fusion of skill, XP, behavioral, and IR signals.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Step 6 — Output: Top-100 ranked list with per-candidate explainability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525" y="878513"/>
            <a:ext cx="18395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5000"/>
              </a:lnSpc>
              <a:spcBef>
                <a:spcPts val="100"/>
              </a:spcBef>
            </a:pPr>
            <a:r>
              <a:rPr sz="1400" spc="0" dirty="0">
                <a:solidFill>
                  <a:srgbClr val="202729"/>
                </a:solidFill>
                <a:latin typeface="Arial Black"/>
                <a:cs typeface="Arial Black"/>
              </a:rPr>
              <a:t>System Architecture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0" name="arch_content"/>
          <p:cNvSpPr txBox="1"/>
          <p:nvPr/>
        </p:nvSpPr>
        <p:spPr>
          <a:xfrm>
            <a:off x="572589" y="1000000"/>
            <a:ext cx="8100000" cy="3093667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endParaRPr lang="en-US" sz="1350" spc="0" dirty="0">
              <a:solidFill>
                <a:srgbClr val="202729"/>
              </a:solidFill>
              <a:latin typeface="Arial Black"/>
              <a:cs typeface="Arial Black"/>
            </a:endParaRP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INPUT:  Job Description Text  +  100,000 Candidate Profiles (JSON / CSV)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PARSING:  LLM JD Parser (Claude API)  —  skills, XP, education, role intent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RETRIEVAL:  Sentence-Transformer Embeddings  →  FAISS ANN  →  BM25Okapi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SCORING:  Skill 30%  +  XP 25%  +  IR 20%  +  Behaviour 12%  +  Quality 13%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RANKING:  LTR Heuristics  →  Reciprocal Rank Fusion  →  Top-100 Selector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OUTPUT:  Ranked List  +  Per-Candidate Score Breakdown  |  Stack: Python · FAISS · Claude API · FastAPI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5000"/>
              </a:lnSpc>
              <a:spcBef>
                <a:spcPts val="100"/>
              </a:spcBef>
            </a:pPr>
            <a:r>
              <a:rPr spc="0" dirty="0"/>
              <a:t>Results &amp; Performance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589" y="1240573"/>
            <a:ext cx="6931025" cy="64960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Pipeline designed to rank 100K profiles on a standard CPU — no GPU required.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Modular stages: retrieval (~FAISS ANN), re-ranking (BM25), scoring (NumPy vectorised).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Target runtime: under 60 seconds end-to-end on 4 vCPUs / 8 GB RAM.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Signal weights and thresholds are tunable — architecture supports iterative refinement.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All outputs include a per-candidate score breakdown — zero black-box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3525" y="878513"/>
            <a:ext cx="1682114" cy="741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5000"/>
              </a:lnSpc>
              <a:spcBef>
                <a:spcPts val="100"/>
              </a:spcBef>
            </a:pPr>
            <a:r>
              <a:rPr spc="0" dirty="0"/>
              <a:t>Technologies Use</a:t>
            </a:r>
            <a:r>
              <a:rPr lang="en-US" spc="0" dirty="0"/>
              <a:t>d</a:t>
            </a:r>
            <a:br>
              <a:rPr lang="en-US" spc="0" dirty="0"/>
            </a:br>
            <a:endParaRPr spc="0" dirty="0"/>
          </a:p>
        </p:txBody>
      </p:sp>
      <p:sp>
        <p:nvSpPr>
          <p:cNvPr id="3" name="object 3"/>
          <p:cNvSpPr txBox="1"/>
          <p:nvPr/>
        </p:nvSpPr>
        <p:spPr>
          <a:xfrm>
            <a:off x="572589" y="1240573"/>
            <a:ext cx="6277610" cy="32848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endParaRPr lang="en-US" sz="1350" spc="0" dirty="0">
              <a:solidFill>
                <a:srgbClr val="202729"/>
              </a:solidFill>
              <a:latin typeface="Arial Black"/>
              <a:cs typeface="Arial Black"/>
            </a:endParaRP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BM25Okapi (rank-bm25): fast, interpretable lexical ranking for keyword-critical signals.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Sentence-Transformers (all-MiniLM-L6-v2): lightweight semantic embeddings for JD-profile similarity.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FAISS: approximate nearest-neighbour search — scales efficiently to 100K+ profiles.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lang="en-US" sz="1350" spc="0" dirty="0">
                <a:solidFill>
                  <a:srgbClr val="202729"/>
                </a:solidFill>
                <a:latin typeface="Arial Black"/>
                <a:cs typeface="Arial Black"/>
              </a:rPr>
              <a:t>Structured JD analysis and weighted feature extraction.</a:t>
            </a:r>
            <a:endParaRPr sz="1350" spc="0" dirty="0">
              <a:solidFill>
                <a:srgbClr val="202729"/>
              </a:solidFill>
              <a:latin typeface="Arial Black"/>
              <a:cs typeface="Arial Black"/>
            </a:endParaRP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lang="en-US" sz="1350" spc="0" dirty="0">
                <a:solidFill>
                  <a:srgbClr val="202729"/>
                </a:solidFill>
                <a:latin typeface="Arial Black"/>
                <a:cs typeface="Arial Black"/>
              </a:rPr>
              <a:t>Python + JSONL Processing + CSV Generation + Rule-Based Ranking Engine.</a:t>
            </a:r>
            <a:endParaRPr sz="1350" spc="0" dirty="0">
              <a:solidFill>
                <a:srgbClr val="202729"/>
              </a:solidFill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10"/>
          <p:cNvSpPr txBox="1"/>
          <p:nvPr/>
        </p:nvSpPr>
        <p:spPr>
          <a:xfrm>
            <a:off x="553525" y="620000"/>
            <a:ext cx="8100000" cy="70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5000"/>
              </a:lnSpc>
              <a:spcBef>
                <a:spcPts val="100"/>
              </a:spcBef>
            </a:pPr>
            <a:r>
              <a:rPr sz="2000" spc="0" dirty="0">
                <a:solidFill>
                  <a:srgbClr val="202729"/>
                </a:solidFill>
                <a:latin typeface="Arial Black"/>
                <a:cs typeface="Arial Black"/>
              </a:rPr>
              <a:t>Submission Assets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53525" y="1400000"/>
            <a:ext cx="7523675" cy="2209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GitHub: </a:t>
            </a:r>
            <a:r>
              <a:rPr lang="en-US" sz="1350" spc="0" dirty="0">
                <a:solidFill>
                  <a:srgbClr val="202729"/>
                </a:solidFill>
                <a:latin typeface="Arial Black"/>
                <a:cs typeface="Arial Black"/>
                <a:hlinkClick r:id="rId2"/>
              </a:rPr>
              <a:t>https://github.com/Rajeshwar-dev/shield-redrob-hackathon</a:t>
            </a:r>
            <a:r>
              <a:rPr lang="en-US" sz="1350" spc="0" dirty="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— full source code + README.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Technical Report: methodology, algorithm design, and signal weight rationale.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Sample Dataset: synthetic candidate profiles used for local testing and validation.</a:t>
            </a:r>
          </a:p>
          <a:p>
            <a:pPr marL="345440" indent="-332740">
              <a:lnSpc>
                <a:spcPct val="115000"/>
              </a:lnSpc>
              <a:spcBef>
                <a:spcPts val="1400"/>
              </a:spcBef>
              <a:buClr>
                <a:srgbClr val="7D45E0"/>
              </a:buClr>
              <a:buFont typeface="Microsoft Sans Serif"/>
              <a:buChar char="●"/>
              <a:tabLst>
                <a:tab pos="345440" algn="l"/>
              </a:tabLst>
            </a:pPr>
            <a:r>
              <a:rPr sz="1350" spc="0" dirty="0">
                <a:solidFill>
                  <a:srgbClr val="202729"/>
                </a:solidFill>
                <a:latin typeface="Arial Black"/>
                <a:cs typeface="Arial Black"/>
              </a:rPr>
              <a:t>Contact: Rajeshwar Chaturvedi | Team Shield | SRIST Jabalpur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74039" y="870842"/>
            <a:ext cx="84963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redrob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10804" y="870842"/>
            <a:ext cx="52705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15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iŻS</a:t>
            </a:r>
            <a:endParaRPr sz="21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721</Words>
  <Application>Microsoft Office PowerPoint</Application>
  <PresentationFormat>On-screen Show (16:9)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Black</vt:lpstr>
      <vt:lpstr>Calibri</vt:lpstr>
      <vt:lpstr>Lucida Sans Unicode</vt:lpstr>
      <vt:lpstr>Microsoft Sans Serif</vt:lpstr>
      <vt:lpstr>Office Theme</vt:lpstr>
      <vt:lpstr>PowerPoint Presentation</vt:lpstr>
      <vt:lpstr>Solution Overview</vt:lpstr>
      <vt:lpstr>JD Understanding &amp; Candidate Evaluation</vt:lpstr>
      <vt:lpstr>Ranking Methodology</vt:lpstr>
      <vt:lpstr>Explainability &amp; Data Validation</vt:lpstr>
      <vt:lpstr>PowerPoint Presentation</vt:lpstr>
      <vt:lpstr>PowerPoint Presentation</vt:lpstr>
      <vt:lpstr>Results &amp; Performance</vt:lpstr>
      <vt:lpstr>Technologies Used </vt:lpstr>
      <vt:lpstr>PowerPoint Presentation</vt:lpstr>
      <vt:lpstr>i iŻS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Submission Template | Redrob</dc:title>
  <dc:creator>Rajehswar</dc:creator>
  <cp:lastModifiedBy>Rajeshwar Chaturvedi</cp:lastModifiedBy>
  <cp:revision>1</cp:revision>
  <dcterms:created xsi:type="dcterms:W3CDTF">2026-06-10T01:11:01Z</dcterms:created>
  <dcterms:modified xsi:type="dcterms:W3CDTF">2026-06-10T04:21:52Z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2026-06-10T00:00:00Z</vt:filetime>
  </property>
  <property fmtid="{D5CDD505-2E9C-101B-9397-08002B2CF9AE}" pid="4" name="Creator">
    <vt:lpwstr>Google</vt:lpwstr>
  </property>
  <property fmtid="{D5CDD505-2E9C-101B-9397-08002B2CF9AE}" pid="5" name="LastSaved">
    <vt:filetime>2026-06-10T00:00:00Z</vt:filetime>
  </property>
</Properties>
</file>